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11795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200" b="1">
                <a:solidFill>
                  <a:srgbClr val="222222"/>
                </a:solidFill>
                <a:latin typeface="Aptos"/>
              </a:rPr>
              <a:t>Slide 1 | India-Wide Ecosystem Lens: What Exists, What’s Missing, Gaps &amp;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56692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Lens date: April 2, 2026 | Uses CPCB FY 2021-22 mass-balance plus GFC 2024-25 and PIB January/March 2026 operating signals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2743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800" b="1">
                <a:solidFill>
                  <a:srgbClr val="9B59B6"/>
                </a:solidFill>
                <a:latin typeface="Aptos"/>
              </a:rPr>
              <a:t>1,62,000 TPD</a:t>
            </a:r>
          </a:p>
          <a:p>
            <a:r>
              <a:rPr sz="800">
                <a:solidFill>
                  <a:srgbClr val="5F5F5F"/>
                </a:solidFill>
                <a:latin typeface="Aptos"/>
              </a:rPr>
              <a:t>Urban MSW currently produced in Indian cities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914400"/>
            <a:ext cx="2743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800" b="1">
                <a:solidFill>
                  <a:srgbClr val="CE4242"/>
                </a:solidFill>
                <a:latin typeface="Aptos"/>
              </a:rPr>
              <a:t>60,478 vs 39,648</a:t>
            </a:r>
          </a:p>
          <a:p>
            <a:r>
              <a:rPr sz="800">
                <a:solidFill>
                  <a:srgbClr val="5F5F5F"/>
                </a:solidFill>
                <a:latin typeface="Aptos"/>
              </a:rPr>
              <a:t>Wards with &gt;90% collection vs &gt;90% source segregation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914400"/>
            <a:ext cx="2743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800" b="1">
                <a:solidFill>
                  <a:srgbClr val="3498DB"/>
                </a:solidFill>
                <a:latin typeface="Aptos"/>
              </a:rPr>
              <a:t>54%</a:t>
            </a:r>
          </a:p>
          <a:p>
            <a:r>
              <a:rPr sz="800">
                <a:solidFill>
                  <a:srgbClr val="5F5F5F"/>
                </a:solidFill>
                <a:latin typeface="Aptos"/>
              </a:rPr>
              <a:t>National processing rate in CPCB FY 2021-22 mass-balance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914400"/>
            <a:ext cx="274320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800" b="1">
                <a:solidFill>
                  <a:srgbClr val="7F8C8D"/>
                </a:solidFill>
                <a:latin typeface="Aptos"/>
              </a:rPr>
              <a:t>~25 crore MT</a:t>
            </a:r>
          </a:p>
          <a:p>
            <a:r>
              <a:rPr sz="800">
                <a:solidFill>
                  <a:srgbClr val="5F5F5F"/>
                </a:solidFill>
                <a:latin typeface="Aptos"/>
              </a:rPr>
              <a:t>Legacy waste identified; &gt;62% processed by January 31,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783080"/>
            <a:ext cx="36576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/>
          <a:lstStyle/>
          <a:p>
            <a:pPr algn="ctr"/>
            <a:r>
              <a:rPr sz="1400" b="1">
                <a:solidFill>
                  <a:srgbClr val="2ECC71"/>
                </a:solidFill>
                <a:latin typeface="Aptos"/>
              </a:rPr>
              <a:t>What is already there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ULB-led collection backbone with concessionaires, fleets and ward systems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A large informal recovery economy of waste pickers, kabadiwalas and scrap traders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Growing MRF, compost, CBG, recycling and EPR infrastructure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SBM-U 2.0, GFC ratings and dumpsite remediation momentum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783080"/>
            <a:ext cx="365760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/>
          <a:lstStyle/>
          <a:p>
            <a:pPr algn="ctr"/>
            <a:r>
              <a:rPr sz="1400" b="1">
                <a:solidFill>
                  <a:srgbClr val="E67E22"/>
                </a:solidFill>
                <a:latin typeface="Aptos"/>
              </a:rPr>
              <a:t>What is not fully there yet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Consistent source segregation across households and bulk generators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End-to-end traceability for low-value waste streams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Reliable offtake for sorted material across geographies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Formal inclusion of informal workers at system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83080"/>
            <a:ext cx="3840480" cy="18745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/>
          <a:lstStyle/>
          <a:p>
            <a:pPr algn="ctr"/>
            <a:r>
              <a:rPr sz="1400" b="1">
                <a:solidFill>
                  <a:srgbClr val="9B59B6"/>
                </a:solidFill>
                <a:latin typeface="Aptos"/>
              </a:rPr>
              <a:t>Structural gaps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Feedstock quality, contamination control and route discipline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Working capital and project finance for aggregation and processing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Data interoperability across ULBs, EPR managers and recyclers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Scientific landfill only for true rejects, not routine overflow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840480"/>
            <a:ext cx="7498079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/>
          <a:lstStyle/>
          <a:p>
            <a:pPr algn="ctr"/>
            <a:r>
              <a:rPr sz="1400" b="1">
                <a:solidFill>
                  <a:srgbClr val="CE4242"/>
                </a:solidFill>
                <a:latin typeface="Aptos"/>
              </a:rPr>
              <a:t>Binding bottlenecks on the current map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Segregation gap at source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Post-collection leakage between collection and processing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MRF quality / recovery bottlenecks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Offtake bottlenecks between aggregators and recyclers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Residual dependence on landfill / RDF / processing rejects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Legacy dumpsites still absorbing land, money and management attention</a:t>
            </a:r>
          </a:p>
        </p:txBody>
      </p:sp>
      <p:pic>
        <p:nvPicPr>
          <p:cNvPr id="12" name="Picture 11" descr="Attachment287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794760"/>
            <a:ext cx="3794760" cy="2022607"/>
          </a:xfrm>
          <a:prstGeom prst="rect">
            <a:avLst/>
          </a:prstGeom>
          <a:ln>
            <a:solidFill>
              <a:srgbClr val="CED2CC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7955279" y="5715000"/>
            <a:ext cx="3794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This ecosystem view is additive, not exclusionary: public systems, entrepreneurs, for-profits, nonprofits, cooperatives, consultants, family-backed vehicles and informal actors all matter.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11795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200" b="1">
                <a:solidFill>
                  <a:srgbClr val="222222"/>
                </a:solidFill>
                <a:latin typeface="Aptos"/>
              </a:rPr>
              <a:t>Slide 2 | Actors, Partners &amp; Illustrative India-Wide Examples by System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56692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Illustrative, not exhaustive. Each block can host public, private, nonprofit, cooperative, advisory and informal actors.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" y="914400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9B59B6"/>
                </a:solidFill>
                <a:latin typeface="Aptos"/>
              </a:rPr>
              <a:t>Consumers &amp; Bulk Waste Generators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Households, RWAs, campuses, hotels, malls, hospitals, stations, airports, factories. Examples: residential societies, Indian Railways sites, airports, IT parks, schools, hospitality chains.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2072" y="914400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3498DB"/>
                </a:solidFill>
                <a:latin typeface="Aptos"/>
              </a:rPr>
              <a:t>Formal Waste Collectors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ULBs, sanitation departments, ward contractors, concessionaires, fleets, worker teams. Examples: municipal corporations, Antony Waste, city-level collection operators.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914400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Informal Waste Collectors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Waste pickers, itinerant buyers, kabadiwalas, cooperatives, worker groups. Examples: SWaCH, Hasiru Dala, Chintan / Safai Sena, collector networks linked to Plastics for Change.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" y="2313432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2ECC71"/>
                </a:solidFill>
                <a:latin typeface="Aptos"/>
              </a:rPr>
              <a:t>MRFs / Sorting Centres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Municipal MRFs, DWCCs, zero-waste operators, sorting lines, social enterprises. Examples: Saahas Zero Waste, Hasiru Dala Innovations, Chintan micro-MRFs, city MRF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2072" y="2313432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9B59B6"/>
                </a:solidFill>
                <a:latin typeface="Aptos"/>
              </a:rPr>
              <a:t>Scrap Dealers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Kabadi shops, balers, dry-waste godowns, mandi traders and small aggregators. Examples: local kabadi networks, neighborhood dry-waste traders, TheKabadiwala interfaces.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68112" y="2313432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3498DB"/>
                </a:solidFill>
                <a:latin typeface="Aptos"/>
              </a:rPr>
              <a:t>Aggregators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Digital marketplaces, traceability platforms, EPR managers, material consolidators. Examples: Recykal, GEM Enviro, Plastics for Change, Lucro collection network, Cirqlo.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3712464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Recyclers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Plastic, metal, paper, e-waste, battery and multi-material recyclers. Examples: Banyan Nation, Lucro, Attero, Gravita, GEM Enviro, Deluxe.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3712464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2ECC71"/>
                </a:solidFill>
                <a:latin typeface="Aptos"/>
              </a:rPr>
              <a:t>Waste Transporters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Municipal fleets, concessionaire fleets, micro-haulers, bale logistics and reverse logistics partners. Examples: ULB fleets, Antony fleets, producer take-back logistics, local transporters.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3712464"/>
            <a:ext cx="2468880" cy="1261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CE4242"/>
                </a:solidFill>
                <a:latin typeface="Aptos"/>
              </a:rPr>
              <a:t>Waste Processors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Composters, biomethanation, CBG, RDF, WtE, co-processing and scientific landfill operators. Examples: GPS Renewables, IGRPL, municipal composters, large processing operators.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914400"/>
            <a:ext cx="3931920" cy="39776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ttachment287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051560"/>
            <a:ext cx="3611880" cy="1925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83879" y="4572000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Same system map, now read as an India-wide actor landscape.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983480"/>
            <a:ext cx="393192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73152" tIns="73152"/>
          <a:lstStyle/>
          <a:p>
            <a:pPr algn="ctr"/>
            <a:r>
              <a:rPr sz="1400" b="1">
                <a:solidFill>
                  <a:srgbClr val="7F8C8D"/>
                </a:solidFill>
                <a:latin typeface="Aptos"/>
              </a:rPr>
              <a:t>Cross-cutting partners that show up across blocks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MoHUA / SBM-U 2.0, SPCBs / PCCs, ULBs and state urban departments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UNDP India, civil society groups, consultants, research institutions and accelerators</a:t>
            </a:r>
          </a:p>
          <a:p>
            <a:pPr/>
            <a:r>
              <a:rPr sz="900">
                <a:solidFill>
                  <a:srgbClr val="222222"/>
                </a:solidFill>
                <a:latin typeface="Aptos"/>
              </a:rPr>
              <a:t>Producer / brand EPR systems, marketplaces, family-backed and strategic capital, and entrepreneur-led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" y="137160"/>
            <a:ext cx="117957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2200" b="1">
                <a:solidFill>
                  <a:srgbClr val="222222"/>
                </a:solidFill>
                <a:latin typeface="Aptos"/>
              </a:rPr>
              <a:t>Slide 3 | Capital Layer Attached to the Map: Funders, Philanthropy, CSR, Investors &amp; Enablers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" y="566928"/>
            <a:ext cx="11155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Read capital as sitting on different blocks of the same system. This lens is intentionally inclusive: public, philanthropic, CSR, strategic, venture and family-backed capital all play a role.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794760" cy="5166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achment287.p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3474720" cy="18520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8912" y="4709160"/>
            <a:ext cx="3429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Capital does not sit in one box. It shows up differently across first mile, inclusion, aggregation, recycling, processing and legacy remediation.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91440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9B59B6"/>
                </a:solidFill>
                <a:latin typeface="Aptos"/>
              </a:rPr>
              <a:t>Consumers / source segregation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ULB budgets, SBM-U IEC, CSR behavior-change campaigns and donor pilots. Examples: HUL-MoHUA, Tata Trusts, UNDP India.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91440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E67E22"/>
                </a:solidFill>
                <a:latin typeface="Aptos"/>
              </a:rPr>
              <a:t>Informal collectors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Livelihood grants, worker inclusion philanthropy, fair-trade plastic models and CSR skilling. Examples: Body Shop x Plastics for Change, worker-support platforms.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3498DB"/>
                </a:solidFill>
                <a:latin typeface="Aptos"/>
              </a:rPr>
              <a:t>Formal collection / transport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Municipal opex, concessionaire finance, fleet leasing and producer take-back budgets for first-mile and reverse logistics.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10312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2ECC71"/>
                </a:solidFill>
                <a:latin typeface="Aptos"/>
              </a:rPr>
              <a:t>MRFs / sorting centres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SBM-U capex, city PPPs, CSR pilots and blended finance for quality upgrades, digitization and traceability. Examples: Social Alpha, Startup Gateway pilots.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9184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9B59B6"/>
                </a:solidFill>
                <a:latin typeface="Aptos"/>
              </a:rPr>
              <a:t>Scrap dealers / aggregators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Working capital, EPR manager spend, inventory finance and angel / family-backed capital for consolidation and route discipline.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9184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3498DB"/>
                </a:solidFill>
                <a:latin typeface="Aptos"/>
              </a:rPr>
              <a:t>Recyclers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VC, growth equity, strategic investors, family offices and brand offtake. Examples: Circulate Capital, Claypond Capital, strategic corporate buyers.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48056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CE4242"/>
                </a:solidFill>
                <a:latin typeface="Aptos"/>
              </a:rPr>
              <a:t>Processors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Project finance, infrastructure funds, strategic energy investors and carbon-linked capital for compost, CBG, RDF and scientific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480560"/>
            <a:ext cx="365760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7F8C8D"/>
                </a:solidFill>
                <a:latin typeface="Aptos"/>
              </a:rPr>
              <a:t>Landfill / legacy waste</a:t>
            </a:r>
          </a:p>
          <a:p>
            <a:r>
              <a:rPr sz="800">
                <a:solidFill>
                  <a:srgbClr val="222222"/>
                </a:solidFill>
                <a:latin typeface="Aptos"/>
              </a:rPr>
              <a:t>Public remediation funds, state support, climate / blended finance and technical assistance. Priority use: dumpsites and scientific rejects management.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6263640"/>
            <a:ext cx="11612880" cy="274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ED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800" b="0">
                <a:solidFill>
                  <a:srgbClr val="5F5F5F"/>
                </a:solidFill>
                <a:latin typeface="Aptos"/>
              </a:rPr>
              <a:t>Illustrative capital actors across the system include Tata Trusts, H&amp;M Foundation, BMGF, USAID, UNDP India, ITC WOW, Coca-Cola India Foundation Anandana, Circulate Capital, Social Alpha, family offices and strategic investors.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